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77" r:id="rId5"/>
    <p:sldId id="258" r:id="rId6"/>
    <p:sldId id="268" r:id="rId7"/>
    <p:sldId id="286" r:id="rId8"/>
    <p:sldId id="290" r:id="rId9"/>
    <p:sldId id="262" r:id="rId10"/>
    <p:sldId id="279" r:id="rId11"/>
    <p:sldId id="292" r:id="rId12"/>
    <p:sldId id="291" r:id="rId13"/>
    <p:sldId id="293" r:id="rId14"/>
    <p:sldId id="294" r:id="rId15"/>
    <p:sldId id="295" r:id="rId16"/>
    <p:sldId id="296" r:id="rId17"/>
    <p:sldId id="297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9" userDrawn="1">
          <p15:clr>
            <a:srgbClr val="A4A3A4"/>
          </p15:clr>
        </p15:guide>
        <p15:guide id="2" pos="3108" userDrawn="1">
          <p15:clr>
            <a:srgbClr val="A4A3A4"/>
          </p15:clr>
        </p15:guide>
        <p15:guide id="3" orient="horz" pos="9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B27F"/>
    <a:srgbClr val="F9A845"/>
    <a:srgbClr val="C89800"/>
    <a:srgbClr val="56524F"/>
    <a:srgbClr val="FADA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4B1156A-380E-4F78-BDF5-A606A8083BF9}"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3204" autoAdjust="0"/>
  </p:normalViewPr>
  <p:slideViewPr>
    <p:cSldViewPr snapToGrid="0" showGuides="1">
      <p:cViewPr varScale="1">
        <p:scale>
          <a:sx n="91" d="100"/>
          <a:sy n="91" d="100"/>
        </p:scale>
        <p:origin x="68" y="52"/>
      </p:cViewPr>
      <p:guideLst>
        <p:guide orient="horz" pos="859"/>
        <p:guide pos="3108"/>
        <p:guide orient="horz" pos="924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microsoft.com/office/2018/10/relationships/authors" Target="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Hive_Stress_Index</c:v>
                </c:pt>
                <c:pt idx="1">
                  <c:v>Stressors</c:v>
                </c:pt>
                <c:pt idx="2">
                  <c:v>Inspection_Month</c:v>
                </c:pt>
                <c:pt idx="3">
                  <c:v>Inspection_DayOfWeek</c:v>
                </c:pt>
                <c:pt idx="4">
                  <c:v>Inspection_Year</c:v>
                </c:pt>
                <c:pt idx="5">
                  <c:v>Apiary_enc</c:v>
                </c:pt>
                <c:pt idx="6">
                  <c:v>Queen</c:v>
                </c:pt>
                <c:pt idx="7">
                  <c:v>Colony_Risk_Score</c:v>
                </c:pt>
                <c:pt idx="8">
                  <c:v>State_enc</c:v>
                </c:pt>
                <c:pt idx="9">
                  <c:v>City_enc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0.6796</c:v>
                </c:pt>
                <c:pt idx="1">
                  <c:v>0.3034</c:v>
                </c:pt>
                <c:pt idx="2">
                  <c:v>0.01043</c:v>
                </c:pt>
                <c:pt idx="3">
                  <c:v>0.00289</c:v>
                </c:pt>
                <c:pt idx="4">
                  <c:v>0.00282</c:v>
                </c:pt>
                <c:pt idx="5">
                  <c:v>0.00043</c:v>
                </c:pt>
                <c:pt idx="6">
                  <c:v>0.00024</c:v>
                </c:pt>
                <c:pt idx="7">
                  <c:v>0.00014</c:v>
                </c:pt>
                <c:pt idx="8">
                  <c:v>4e-5</c:v>
                </c:pt>
                <c:pt idx="9">
                  <c:v>1e-5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"/>
        <c:overlap val="19"/>
        <c:axId val="106428287"/>
        <c:axId val="106427807"/>
      </c:barChart>
      <c:catAx>
        <c:axId val="1064282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06427807"/>
        <c:crosses val="autoZero"/>
        <c:auto val="1"/>
        <c:lblAlgn val="ctr"/>
        <c:lblOffset val="100"/>
        <c:noMultiLvlLbl val="0"/>
      </c:catAx>
      <c:valAx>
        <c:axId val="106427807"/>
        <c:scaling>
          <c:orientation val="minMax"/>
          <c:max val="0.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06428287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200a5cc-ccb1-48e5-b753-a691a70adef8}"/>
      </c:ext>
    </c:extLst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Gradient Boosting</c:v>
                </c:pt>
                <c:pt idx="1">
                  <c:v>AdaBoost</c:v>
                </c:pt>
                <c:pt idx="2">
                  <c:v>Logistic Reg.</c:v>
                </c:pt>
                <c:pt idx="3">
                  <c:v>Naïve Bayes</c:v>
                </c:pt>
                <c:pt idx="4">
                  <c:v>Decision Tree</c:v>
                </c:pt>
                <c:pt idx="5">
                  <c:v>KNN</c:v>
                </c:pt>
                <c:pt idx="6">
                  <c:v>Random Forest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0.9995</c:v>
                </c:pt>
                <c:pt idx="1">
                  <c:v>0.9995</c:v>
                </c:pt>
                <c:pt idx="2">
                  <c:v>0.999</c:v>
                </c:pt>
                <c:pt idx="3">
                  <c:v>0.9984</c:v>
                </c:pt>
                <c:pt idx="4">
                  <c:v>0.9984</c:v>
                </c:pt>
                <c:pt idx="5">
                  <c:v>0.9983</c:v>
                </c:pt>
                <c:pt idx="6">
                  <c:v>0.9981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27"/>
        <c:axId val="547350463"/>
        <c:axId val="547349983"/>
      </c:barChart>
      <c:catAx>
        <c:axId val="54735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7349983"/>
        <c:crosses val="autoZero"/>
        <c:auto val="1"/>
        <c:lblAlgn val="ctr"/>
        <c:lblOffset val="100"/>
        <c:noMultiLvlLbl val="0"/>
      </c:catAx>
      <c:valAx>
        <c:axId val="547349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735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0600c50-d7dd-400c-acfc-f4f508e42d55}"/>
      </c:ext>
    </c:extLst>
  </c:chart>
  <c:spPr>
    <a:noFill/>
    <a:ln>
      <a:noFill/>
    </a:ln>
    <a:effectLst/>
  </c:spPr>
  <c:txPr>
    <a:bodyPr/>
    <a:lstStyle/>
    <a:p>
      <a:pPr>
        <a:defRPr lang="en-US">
          <a:ln>
            <a:solidFill>
              <a:schemeClr val="bg1"/>
            </a:solidFill>
          </a:ln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svg"/><Relationship Id="rId8" Type="http://schemas.openxmlformats.org/officeDocument/2006/relationships/image" Target="../media/image1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/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/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/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80" name="Oval 79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82" name="Oval 81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85" name="Oval 84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88" name="Oval 87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92" name="Oval 91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95" name="Oval 94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98" name="Oval 97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2" name="Oval 101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5" name="Oval 104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8" name="Oval 107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10" name="Oval 109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113" name="Oval 112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23" name="Freeform: Shape 22"/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/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/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/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/>
            <p:cNvCxnSpPr/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/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-1" fmla="*/ 0 w 2029968"/>
                <a:gd name="connsiteY0-2" fmla="*/ 0 h 2029968"/>
                <a:gd name="connsiteX1-3" fmla="*/ 2029968 w 2029968"/>
                <a:gd name="connsiteY1-4" fmla="*/ 2029968 h 2029968"/>
                <a:gd name="connsiteX2-5" fmla="*/ 0 w 2029968"/>
                <a:gd name="connsiteY2-6" fmla="*/ 2029968 h 2029968"/>
                <a:gd name="connsiteX3-7" fmla="*/ 0 w 2029968"/>
                <a:gd name="connsiteY3-8" fmla="*/ 0 h 2029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  Description automatically generated with low confidence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/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/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/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60" name="Oval 59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58" name="Oval 57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56" name="Oval 55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54" name="Oval 53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52" name="Oval 51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50" name="Oval 49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44" name="Oval 43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5" name="Oval 44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6" name="Oval 45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7" name="Oval 46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8" name="Oval 47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42" name="Oval 41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75" name="Rectangle 74"/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/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/>
            <p:cNvCxnSpPr/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3" name="Picture Placeholder 62"/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/>
            <p:cNvSpPr/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/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-1" fmla="*/ 0 w 2029968"/>
                <a:gd name="connsiteY0-2" fmla="*/ 0 h 2029968"/>
                <a:gd name="connsiteX1-3" fmla="*/ 2029968 w 2029968"/>
                <a:gd name="connsiteY1-4" fmla="*/ 2029968 h 2029968"/>
                <a:gd name="connsiteX2-5" fmla="*/ 0 w 2029968"/>
                <a:gd name="connsiteY2-6" fmla="*/ 2029968 h 2029968"/>
                <a:gd name="connsiteX3-7" fmla="*/ 0 w 2029968"/>
                <a:gd name="connsiteY3-8" fmla="*/ 0 h 2029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/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  Description automatically generated with low confidence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/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/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-1" fmla="*/ 0 w 2029968"/>
                <a:gd name="connsiteY0-2" fmla="*/ 0 h 2029968"/>
                <a:gd name="connsiteX1-3" fmla="*/ 2029968 w 2029968"/>
                <a:gd name="connsiteY1-4" fmla="*/ 2029968 h 2029968"/>
                <a:gd name="connsiteX2-5" fmla="*/ 0 w 2029968"/>
                <a:gd name="connsiteY2-6" fmla="*/ 2029968 h 2029968"/>
                <a:gd name="connsiteX3-7" fmla="*/ 0 w 2029968"/>
                <a:gd name="connsiteY3-8" fmla="*/ 0 h 2029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/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40" name="Oval 39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38" name="Oval 37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36" name="Oval 35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34" name="Oval 33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32" name="Oval 31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30" name="Oval 29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24" name="Oval 23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25" name="Oval 24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26" name="Oval 25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27" name="Oval 26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28" name="Oval 27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21" name="Oval 20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41" name="Rectangle 40"/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/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/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-1" fmla="*/ 0 w 2029968"/>
                <a:gd name="connsiteY0-2" fmla="*/ 0 h 2029968"/>
                <a:gd name="connsiteX1-3" fmla="*/ 2029968 w 2029968"/>
                <a:gd name="connsiteY1-4" fmla="*/ 2029968 h 2029968"/>
                <a:gd name="connsiteX2-5" fmla="*/ 0 w 2029968"/>
                <a:gd name="connsiteY2-6" fmla="*/ 2029968 h 2029968"/>
                <a:gd name="connsiteX3-7" fmla="*/ 0 w 2029968"/>
                <a:gd name="connsiteY3-8" fmla="*/ 0 h 2029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  Description automatically generated with low confidence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/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/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60" name="Oval 59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58" name="Oval 57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56" name="Oval 55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54" name="Oval 53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52" name="Oval 51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50" name="Oval 49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44" name="Oval 43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5" name="Oval 44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6" name="Oval 45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7" name="Oval 46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48" name="Oval 47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42" name="Oval 41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61" name="Rectangle 60"/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/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/>
            <p:cNvCxnSpPr/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/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-1" fmla="*/ 0 w 2029968"/>
                <a:gd name="connsiteY0-2" fmla="*/ 0 h 2029968"/>
                <a:gd name="connsiteX1-3" fmla="*/ 2029968 w 2029968"/>
                <a:gd name="connsiteY1-4" fmla="*/ 2029968 h 2029968"/>
                <a:gd name="connsiteX2-5" fmla="*/ 0 w 2029968"/>
                <a:gd name="connsiteY2-6" fmla="*/ 2029968 h 2029968"/>
                <a:gd name="connsiteX3-7" fmla="*/ 0 w 2029968"/>
                <a:gd name="connsiteY3-8" fmla="*/ 0 h 2029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/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/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/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  Description automatically generated with low confidence"/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/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185" name="Oval 184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183" name="Oval 182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181" name="Oval 180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179" name="Oval 178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177" name="Oval 176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174" name="Oval 173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166" name="Oval 165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67" name="Oval 166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69" name="Oval 168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71" name="Oval 170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72" name="Oval 171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164" name="Oval 163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67" name="Freeform: Shape 66"/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/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/>
            <p:cNvCxnSpPr/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192" name="Date Placeholder 3"/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  Description automatically generated with low confidence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/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/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/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/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/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-1" fmla="*/ 0 w 2029968"/>
              <a:gd name="connsiteY0-2" fmla="*/ 0 h 2029968"/>
              <a:gd name="connsiteX1-3" fmla="*/ 2029968 w 2029968"/>
              <a:gd name="connsiteY1-4" fmla="*/ 2029968 h 2029968"/>
              <a:gd name="connsiteX2-5" fmla="*/ 0 w 2029968"/>
              <a:gd name="connsiteY2-6" fmla="*/ 2029968 h 2029968"/>
              <a:gd name="connsiteX3-7" fmla="*/ 0 w 2029968"/>
              <a:gd name="connsiteY3-8" fmla="*/ 0 h 2029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/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-1" fmla="*/ 0 w 2029968"/>
              <a:gd name="connsiteY0-2" fmla="*/ 0 h 2029968"/>
              <a:gd name="connsiteX1-3" fmla="*/ 2029968 w 2029968"/>
              <a:gd name="connsiteY1-4" fmla="*/ 2029968 h 2029968"/>
              <a:gd name="connsiteX2-5" fmla="*/ 0 w 2029968"/>
              <a:gd name="connsiteY2-6" fmla="*/ 2029968 h 2029968"/>
              <a:gd name="connsiteX3-7" fmla="*/ 0 w 2029968"/>
              <a:gd name="connsiteY3-8" fmla="*/ 0 h 2029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/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/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/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/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/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/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/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/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/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/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/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/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/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/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/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/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/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/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/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/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9" name="Date Placeholder 3"/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9" name="Date Placeholder 3"/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/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/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-1" fmla="*/ 0 w 2029968"/>
              <a:gd name="connsiteY0-2" fmla="*/ 0 h 2029968"/>
              <a:gd name="connsiteX1-3" fmla="*/ 2029968 w 2029968"/>
              <a:gd name="connsiteY1-4" fmla="*/ 2029968 h 2029968"/>
              <a:gd name="connsiteX2-5" fmla="*/ 0 w 2029968"/>
              <a:gd name="connsiteY2-6" fmla="*/ 2029968 h 2029968"/>
              <a:gd name="connsiteX3-7" fmla="*/ 0 w 2029968"/>
              <a:gd name="connsiteY3-8" fmla="*/ 0 h 2029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Rectangle 23"/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-1" fmla="*/ 0 w 2029968"/>
              <a:gd name="connsiteY0-2" fmla="*/ 0 h 2029968"/>
              <a:gd name="connsiteX1-3" fmla="*/ 2029968 w 2029968"/>
              <a:gd name="connsiteY1-4" fmla="*/ 2029968 h 2029968"/>
              <a:gd name="connsiteX2-5" fmla="*/ 0 w 2029968"/>
              <a:gd name="connsiteY2-6" fmla="*/ 2029968 h 2029968"/>
              <a:gd name="connsiteX3-7" fmla="*/ 0 w 2029968"/>
              <a:gd name="connsiteY3-8" fmla="*/ 0 h 2029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  <a:endParaRPr lang="en-US" dirty="0"/>
          </a:p>
          <a:p>
            <a:pPr marL="685800" lvl="1" indent="-228600"/>
            <a:r>
              <a:rPr lang="en-US" dirty="0"/>
              <a:t>Second level</a:t>
            </a:r>
            <a:endParaRPr lang="en-US" dirty="0"/>
          </a:p>
          <a:p>
            <a:pPr marL="1143000" lvl="2" indent="-228600"/>
            <a:r>
              <a:rPr lang="en-US" dirty="0"/>
              <a:t>Third level</a:t>
            </a:r>
            <a:endParaRPr lang="en-US" dirty="0"/>
          </a:p>
          <a:p>
            <a:pPr marL="1600200" lvl="3" indent="-228600"/>
            <a:r>
              <a:rPr lang="en-US" dirty="0"/>
              <a:t>Fourth level</a:t>
            </a:r>
            <a:endParaRPr lang="en-US" dirty="0"/>
          </a:p>
          <a:p>
            <a:pPr marL="2057400" lvl="4" indent="-228600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/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/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3" name="Date Placeholder 3"/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icon to insert table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23"/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-1" fmla="*/ 0 w 2029968"/>
              <a:gd name="connsiteY0-2" fmla="*/ 0 h 2029968"/>
              <a:gd name="connsiteX1-3" fmla="*/ 2029968 w 2029968"/>
              <a:gd name="connsiteY1-4" fmla="*/ 2029968 h 2029968"/>
              <a:gd name="connsiteX2-5" fmla="*/ 0 w 2029968"/>
              <a:gd name="connsiteY2-6" fmla="*/ 2029968 h 2029968"/>
              <a:gd name="connsiteX3-7" fmla="*/ 0 w 2029968"/>
              <a:gd name="connsiteY3-8" fmla="*/ 0 h 20299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/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/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/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/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/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/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/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/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/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/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/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  <p:sp>
                          <p:nvSpPr>
                            <p:cNvPr id="80" name="Oval 79"/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  <a:endParaRPr lang="en-US" dirty="0"/>
                            </a:p>
                          </p:txBody>
                        </p:sp>
                      </p:grpSp>
                      <p:sp>
                        <p:nvSpPr>
                          <p:cNvPr id="82" name="Oval 81"/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85" name="Oval 84"/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88" name="Oval 87"/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92" name="Oval 91"/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95" name="Oval 94"/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  <a:endParaRPr lang="en-US" dirty="0"/>
                  </a:p>
                </p:txBody>
              </p:sp>
            </p:grpSp>
            <p:sp>
              <p:nvSpPr>
                <p:cNvPr id="98" name="Oval 97"/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2" name="Oval 101"/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5" name="Oval 104"/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08" name="Oval 107"/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  <p:sp>
              <p:nvSpPr>
                <p:cNvPr id="110" name="Oval 109"/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:endParaRPr lang="en-US" dirty="0"/>
                </a:p>
              </p:txBody>
            </p:sp>
          </p:grpSp>
          <p:sp>
            <p:nvSpPr>
              <p:cNvPr id="113" name="Oval 112"/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endParaRPr lang="en-US" dirty="0"/>
              </a:p>
            </p:txBody>
          </p:sp>
        </p:grpSp>
        <p:sp>
          <p:nvSpPr>
            <p:cNvPr id="23" name="Freeform: Shape 22"/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/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-1" fmla="*/ 0 w 1828800"/>
                <a:gd name="connsiteY0-2" fmla="*/ 0 h 1828800"/>
                <a:gd name="connsiteX1-3" fmla="*/ 1828800 w 1828800"/>
                <a:gd name="connsiteY1-4" fmla="*/ 1828800 h 1828800"/>
                <a:gd name="connsiteX2-5" fmla="*/ 0 w 1828800"/>
                <a:gd name="connsiteY2-6" fmla="*/ 1828800 h 1828800"/>
                <a:gd name="connsiteX3-7" fmla="*/ 0 w 1828800"/>
                <a:gd name="connsiteY3-8" fmla="*/ 0 h 1828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/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/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/>
            <p:cNvCxnSpPr/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8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935" y="639376"/>
            <a:ext cx="7402773" cy="3168298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Forecast Honeybee</a:t>
            </a:r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health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98547" y="3669118"/>
            <a:ext cx="5493378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chemeClr val="bg1"/>
                </a:solidFill>
              </a:rPr>
              <a:t>COMP4610 Advanced Database Systems  |  Group 5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000" dirty="0">
                <a:solidFill>
                  <a:schemeClr val="bg1"/>
                </a:solidFill>
              </a:rPr>
              <a:t>Bhavya Bhola (T00729544)   |   Kenji Lopez (T00712309)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000" dirty="0">
                <a:solidFill>
                  <a:schemeClr val="bg1"/>
                </a:solidFill>
              </a:rPr>
              <a:t>Kshitij Santokhee (T00736607)   |   Nilam Rai (T00688491)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000" dirty="0">
                <a:solidFill>
                  <a:schemeClr val="bg1"/>
                </a:solidFill>
              </a:rPr>
              <a:t>Jugias Girn (T00712501)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000" dirty="0">
                <a:solidFill>
                  <a:schemeClr val="bg1"/>
                </a:solidFill>
              </a:rPr>
              <a:t>April 7, 2026</a:t>
            </a:r>
            <a:endParaRPr lang="en-C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1470591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sz="half" idx="14"/>
          </p:nvPr>
        </p:nvSpPr>
        <p:spPr>
          <a:xfrm>
            <a:off x="4933950" y="1900052"/>
            <a:ext cx="6691993" cy="393170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Introduction &amp; Research Objectives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Dataset Overview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Data Modelling Setup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Methodology &amp; Data Modelling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Experimental Results &amp; Analysis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Challenges &amp; Limitations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Conclusion &amp; Future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4200" y="92723"/>
            <a:ext cx="6594768" cy="1182915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15" name="Subtitle 14"/>
          <p:cNvSpPr>
            <a:spLocks noGrp="1"/>
          </p:cNvSpPr>
          <p:nvPr>
            <p:ph type="subTitle" idx="1"/>
          </p:nvPr>
        </p:nvSpPr>
        <p:spPr>
          <a:xfrm>
            <a:off x="4514468" y="1424700"/>
            <a:ext cx="7499731" cy="1311313"/>
          </a:xfrm>
        </p:spPr>
        <p:txBody>
          <a:bodyPr>
            <a:noAutofit/>
          </a:bodyPr>
          <a:lstStyle/>
          <a:p>
            <a:r>
              <a:rPr lang="en-CA" sz="1600" dirty="0"/>
              <a:t>Honeybee colony health is declining due to weather, pesticides, parasites, and disease. Early detection of unhealthy hives is critical for beekeepers managing large apiaries.</a:t>
            </a:r>
            <a:endParaRPr lang="en-CA" sz="1600" dirty="0"/>
          </a:p>
        </p:txBody>
      </p:sp>
      <p:pic>
        <p:nvPicPr>
          <p:cNvPr id="18" name="Picture Placeholder 17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27173" r="27173"/>
          <a:stretch>
            <a:fillRect/>
          </a:stretch>
        </p:blipFill>
        <p:spPr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</p:pic>
      <p:cxnSp>
        <p:nvCxnSpPr>
          <p:cNvPr id="32" name="Straight Connector 31"/>
          <p:cNvCxnSpPr/>
          <p:nvPr/>
        </p:nvCxnSpPr>
        <p:spPr>
          <a:xfrm>
            <a:off x="-84837" y="1915036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954363" y="5987110"/>
            <a:ext cx="247416" cy="21913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itle 1"/>
          <p:cNvSpPr txBox="1"/>
          <p:nvPr/>
        </p:nvSpPr>
        <p:spPr>
          <a:xfrm>
            <a:off x="4544861" y="1009013"/>
            <a:ext cx="6017094" cy="610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u="sng" dirty="0">
                <a:solidFill>
                  <a:schemeClr val="accent2">
                    <a:lumMod val="50000"/>
                  </a:schemeClr>
                </a:solidFill>
              </a:rPr>
              <a:t>The problem</a:t>
            </a:r>
            <a:endParaRPr lang="en-US" sz="2800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Title 1"/>
          <p:cNvSpPr txBox="1"/>
          <p:nvPr/>
        </p:nvSpPr>
        <p:spPr>
          <a:xfrm>
            <a:off x="4483100" y="2620645"/>
            <a:ext cx="7468870" cy="610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u="sng" dirty="0">
                <a:solidFill>
                  <a:schemeClr val="accent2">
                    <a:lumMod val="50000"/>
                  </a:schemeClr>
                </a:solidFill>
              </a:rPr>
              <a:t>The approach &amp; objectives</a:t>
            </a:r>
            <a:endParaRPr lang="en-US" sz="2800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Subtitle 14"/>
          <p:cNvSpPr txBox="1"/>
          <p:nvPr/>
        </p:nvSpPr>
        <p:spPr>
          <a:xfrm>
            <a:off x="4483353" y="3140186"/>
            <a:ext cx="7499731" cy="2956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latin typeface="+mj-lt"/>
              </a:rPr>
              <a:t>By doing data mining with the records from:</a:t>
            </a:r>
            <a:endParaRPr lang="en-CA" sz="14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+mj-lt"/>
              </a:rPr>
              <a:t>Hive inspections from 13 apiaries (NC &amp; UT, 2016–2019)</a:t>
            </a:r>
            <a:endParaRPr lang="en-CA" sz="1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+mj-lt"/>
              </a:rPr>
              <a:t>Hourly weather data from 3 weather stations</a:t>
            </a:r>
            <a:endParaRPr lang="en-CA" sz="1400" dirty="0">
              <a:latin typeface="+mj-lt"/>
            </a:endParaRPr>
          </a:p>
          <a:p>
            <a:r>
              <a:rPr lang="en-CA" sz="1400" b="1" dirty="0">
                <a:latin typeface="+mj-lt"/>
              </a:rPr>
              <a:t>Research Objectives:</a:t>
            </a:r>
            <a:endParaRPr lang="en-CA" sz="14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+mj-lt"/>
              </a:rPr>
              <a:t>Integrate 6 relational tables and perform end-to-end preprocessing</a:t>
            </a:r>
            <a:endParaRPr lang="en-CA" sz="1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+mj-lt"/>
              </a:rPr>
              <a:t>Train and compare 7 classification models to predict colony health</a:t>
            </a:r>
            <a:endParaRPr lang="en-CA" sz="1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400" dirty="0">
                <a:latin typeface="+mj-lt"/>
              </a:rPr>
              <a:t>Support beekeepers in identifying at-risk hives earlier</a:t>
            </a:r>
            <a:endParaRPr lang="en-CA" sz="14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291" y="231093"/>
            <a:ext cx="9389288" cy="831088"/>
          </a:xfrm>
        </p:spPr>
        <p:txBody>
          <a:bodyPr/>
          <a:lstStyle/>
          <a:p>
            <a:pPr algn="ctr"/>
            <a:r>
              <a:rPr lang="en-US" dirty="0"/>
              <a:t>Dataset overview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5631" y="1209963"/>
          <a:ext cx="10897663" cy="444770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051959"/>
                <a:gridCol w="2303813"/>
                <a:gridCol w="5541891"/>
              </a:tblGrid>
              <a:tr h="537308">
                <a:tc>
                  <a:txBody>
                    <a:bodyPr/>
                    <a:lstStyle/>
                    <a:p>
                      <a:r>
                        <a:rPr lang="en-CA" dirty="0"/>
                        <a:t>Table</a:t>
                      </a:r>
                      <a:endParaRPr lang="en-CA" dirty="0"/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Transactions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96352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HCC_Inspections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2,404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Colony health checklist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22646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Hive_Information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188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Hive tags, linked to apiaries via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ApiaryID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22646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Apiary_Information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13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Locations of apiaries in North Carolina and Utah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73054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Hourly_Weather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3,672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Temperature, humidity, wind, pressure, precipitation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73054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Weather_Stations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Details from weather stations in Clayton, Durham and Salt Lake City.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22646">
                <a:tc>
                  <a:txBody>
                    <a:bodyPr/>
                    <a:lstStyle/>
                    <a:p>
                      <a:r>
                        <a:rPr lang="en-CA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Weather_Observations</a:t>
                      </a:r>
                      <a:endParaRPr lang="en-CA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1,776 records</a:t>
                      </a:r>
                      <a:endParaRPr lang="en-CA" dirty="0"/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Observation timestamps and hour values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06806" y="5805451"/>
            <a:ext cx="9536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**Class Imbalance: 63.7% Unhealthy  |  36.3% Healthy  — handled using SMOTE during modelling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CA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094" y="260207"/>
            <a:ext cx="9038122" cy="6352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preprocessing</a:t>
            </a:r>
            <a:endParaRPr lang="en-US" dirty="0"/>
          </a:p>
        </p:txBody>
      </p:sp>
      <p:sp>
        <p:nvSpPr>
          <p:cNvPr id="9" name="Text 8"/>
          <p:cNvSpPr/>
          <p:nvPr>
            <p:custDataLst>
              <p:tags r:id="rId1"/>
            </p:custDataLst>
          </p:nvPr>
        </p:nvSpPr>
        <p:spPr>
          <a:xfrm>
            <a:off x="2988912" y="1144737"/>
            <a:ext cx="724408" cy="646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Shape 9"/>
          <p:cNvSpPr/>
          <p:nvPr>
            <p:custDataLst>
              <p:tags r:id="rId2"/>
            </p:custDataLst>
          </p:nvPr>
        </p:nvSpPr>
        <p:spPr>
          <a:xfrm>
            <a:off x="3978496" y="1144735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10"/>
          <p:cNvSpPr/>
          <p:nvPr>
            <p:custDataLst>
              <p:tags r:id="rId3"/>
            </p:custDataLst>
          </p:nvPr>
        </p:nvSpPr>
        <p:spPr>
          <a:xfrm>
            <a:off x="4115656" y="129807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Integration</a:t>
            </a:r>
            <a:endParaRPr lang="en-US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6218776" y="1144736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6 tables using ApiaryID, HiveID, StationID, ObsID, and 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27336" y="2947316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27336" y="3495956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5" name="Text 8"/>
          <p:cNvSpPr/>
          <p:nvPr>
            <p:custDataLst>
              <p:tags r:id="rId5"/>
            </p:custDataLst>
          </p:nvPr>
        </p:nvSpPr>
        <p:spPr>
          <a:xfrm>
            <a:off x="2988912" y="1960101"/>
            <a:ext cx="724408" cy="6461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3200" dirty="0"/>
          </a:p>
        </p:txBody>
      </p:sp>
      <p:sp>
        <p:nvSpPr>
          <p:cNvPr id="46" name="Shape 9"/>
          <p:cNvSpPr/>
          <p:nvPr>
            <p:custDataLst>
              <p:tags r:id="rId6"/>
            </p:custDataLst>
          </p:nvPr>
        </p:nvSpPr>
        <p:spPr>
          <a:xfrm>
            <a:off x="3978496" y="1937241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10"/>
          <p:cNvSpPr/>
          <p:nvPr>
            <p:custDataLst>
              <p:tags r:id="rId7"/>
            </p:custDataLst>
          </p:nvPr>
        </p:nvSpPr>
        <p:spPr>
          <a:xfrm>
            <a:off x="4115656" y="209057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dirty="0"/>
          </a:p>
        </p:txBody>
      </p:sp>
      <p:sp>
        <p:nvSpPr>
          <p:cNvPr id="48" name="Text 11"/>
          <p:cNvSpPr/>
          <p:nvPr>
            <p:custDataLst>
              <p:tags r:id="rId8"/>
            </p:custDataLst>
          </p:nvPr>
        </p:nvSpPr>
        <p:spPr>
          <a:xfrm>
            <a:off x="6218776" y="1937241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imputation for categorical, mean for numeric, capped outliers with IQR</a:t>
            </a:r>
            <a:endParaRPr lang="en-US" sz="1600" dirty="0"/>
          </a:p>
        </p:txBody>
      </p:sp>
      <p:sp>
        <p:nvSpPr>
          <p:cNvPr id="49" name="Text 8"/>
          <p:cNvSpPr/>
          <p:nvPr>
            <p:custDataLst>
              <p:tags r:id="rId9"/>
            </p:custDataLst>
          </p:nvPr>
        </p:nvSpPr>
        <p:spPr>
          <a:xfrm>
            <a:off x="2988912" y="2770531"/>
            <a:ext cx="724408" cy="646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200" dirty="0"/>
          </a:p>
        </p:txBody>
      </p:sp>
      <p:sp>
        <p:nvSpPr>
          <p:cNvPr id="50" name="Shape 9"/>
          <p:cNvSpPr/>
          <p:nvPr>
            <p:custDataLst>
              <p:tags r:id="rId10"/>
            </p:custDataLst>
          </p:nvPr>
        </p:nvSpPr>
        <p:spPr>
          <a:xfrm>
            <a:off x="3978496" y="2770531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10"/>
          <p:cNvSpPr/>
          <p:nvPr>
            <p:custDataLst>
              <p:tags r:id="rId11"/>
            </p:custDataLst>
          </p:nvPr>
        </p:nvSpPr>
        <p:spPr>
          <a:xfrm>
            <a:off x="4115656" y="292386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 Reduction</a:t>
            </a:r>
            <a:endParaRPr lang="en-US" dirty="0"/>
          </a:p>
        </p:txBody>
      </p:sp>
      <p:sp>
        <p:nvSpPr>
          <p:cNvPr id="52" name="Text 11"/>
          <p:cNvSpPr/>
          <p:nvPr>
            <p:custDataLst>
              <p:tags r:id="rId12"/>
            </p:custDataLst>
          </p:nvPr>
        </p:nvSpPr>
        <p:spPr>
          <a:xfrm>
            <a:off x="6218776" y="2770531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Equal-width binning, mean smoothing, rolling average, regression smoothing</a:t>
            </a:r>
            <a:endParaRPr lang="en-US" sz="1600" dirty="0"/>
          </a:p>
        </p:txBody>
      </p:sp>
      <p:sp>
        <p:nvSpPr>
          <p:cNvPr id="53" name="Text 8"/>
          <p:cNvSpPr/>
          <p:nvPr>
            <p:custDataLst>
              <p:tags r:id="rId13"/>
            </p:custDataLst>
          </p:nvPr>
        </p:nvSpPr>
        <p:spPr>
          <a:xfrm>
            <a:off x="2988912" y="3561486"/>
            <a:ext cx="724408" cy="6461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200" dirty="0"/>
          </a:p>
        </p:txBody>
      </p:sp>
      <p:sp>
        <p:nvSpPr>
          <p:cNvPr id="54" name="Text 16"/>
          <p:cNvSpPr/>
          <p:nvPr/>
        </p:nvSpPr>
        <p:spPr>
          <a:xfrm>
            <a:off x="6127336" y="3642261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5" name="Shape 9"/>
          <p:cNvSpPr/>
          <p:nvPr>
            <p:custDataLst>
              <p:tags r:id="rId14"/>
            </p:custDataLst>
          </p:nvPr>
        </p:nvSpPr>
        <p:spPr>
          <a:xfrm>
            <a:off x="3978496" y="3551751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10"/>
          <p:cNvSpPr/>
          <p:nvPr>
            <p:custDataLst>
              <p:tags r:id="rId15"/>
            </p:custDataLst>
          </p:nvPr>
        </p:nvSpPr>
        <p:spPr>
          <a:xfrm>
            <a:off x="4115656" y="3618810"/>
            <a:ext cx="2011680" cy="492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Aggregation</a:t>
            </a:r>
            <a:endParaRPr lang="en-US" dirty="0"/>
          </a:p>
        </p:txBody>
      </p:sp>
      <p:sp>
        <p:nvSpPr>
          <p:cNvPr id="57" name="Text 11"/>
          <p:cNvSpPr/>
          <p:nvPr>
            <p:custDataLst>
              <p:tags r:id="rId16"/>
            </p:custDataLst>
          </p:nvPr>
        </p:nvSpPr>
        <p:spPr>
          <a:xfrm>
            <a:off x="6218776" y="3551752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Hourly weather → daily summaries (mean/min/max temp, humidity, wind, precipitation)</a:t>
            </a:r>
            <a:endParaRPr lang="en-US" sz="1600" dirty="0"/>
          </a:p>
        </p:txBody>
      </p:sp>
      <p:sp>
        <p:nvSpPr>
          <p:cNvPr id="58" name="Text 8"/>
          <p:cNvSpPr/>
          <p:nvPr>
            <p:custDataLst>
              <p:tags r:id="rId17"/>
            </p:custDataLst>
          </p:nvPr>
        </p:nvSpPr>
        <p:spPr>
          <a:xfrm>
            <a:off x="2988912" y="4305201"/>
            <a:ext cx="724408" cy="646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200" dirty="0"/>
          </a:p>
        </p:txBody>
      </p:sp>
      <p:sp>
        <p:nvSpPr>
          <p:cNvPr id="59" name="Text 16"/>
          <p:cNvSpPr/>
          <p:nvPr/>
        </p:nvSpPr>
        <p:spPr>
          <a:xfrm>
            <a:off x="6127336" y="4418231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0" name="Shape 9"/>
          <p:cNvSpPr/>
          <p:nvPr>
            <p:custDataLst>
              <p:tags r:id="rId18"/>
            </p:custDataLst>
          </p:nvPr>
        </p:nvSpPr>
        <p:spPr>
          <a:xfrm>
            <a:off x="3978496" y="4327721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Text 10"/>
          <p:cNvSpPr/>
          <p:nvPr>
            <p:custDataLst>
              <p:tags r:id="rId19"/>
            </p:custDataLst>
          </p:nvPr>
        </p:nvSpPr>
        <p:spPr>
          <a:xfrm>
            <a:off x="4115656" y="4394780"/>
            <a:ext cx="2011680" cy="492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dirty="0"/>
          </a:p>
        </p:txBody>
      </p:sp>
      <p:sp>
        <p:nvSpPr>
          <p:cNvPr id="62" name="Text 11"/>
          <p:cNvSpPr/>
          <p:nvPr>
            <p:custDataLst>
              <p:tags r:id="rId20"/>
            </p:custDataLst>
          </p:nvPr>
        </p:nvSpPr>
        <p:spPr>
          <a:xfrm>
            <a:off x="6218776" y="4327722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Hive Stress Index, Weather Stress Index, Colony Risk Score, Temp Range</a:t>
            </a:r>
            <a:endParaRPr lang="en-US" sz="1600" dirty="0"/>
          </a:p>
        </p:txBody>
      </p:sp>
      <p:sp>
        <p:nvSpPr>
          <p:cNvPr id="63" name="Text 8"/>
          <p:cNvSpPr/>
          <p:nvPr>
            <p:custDataLst>
              <p:tags r:id="rId21"/>
            </p:custDataLst>
          </p:nvPr>
        </p:nvSpPr>
        <p:spPr>
          <a:xfrm>
            <a:off x="2988431" y="5048916"/>
            <a:ext cx="724408" cy="6461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3200" dirty="0"/>
          </a:p>
        </p:txBody>
      </p:sp>
      <p:sp>
        <p:nvSpPr>
          <p:cNvPr id="64" name="Text 16"/>
          <p:cNvSpPr/>
          <p:nvPr/>
        </p:nvSpPr>
        <p:spPr>
          <a:xfrm>
            <a:off x="6127336" y="5165327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5" name="Shape 9"/>
          <p:cNvSpPr/>
          <p:nvPr>
            <p:custDataLst>
              <p:tags r:id="rId22"/>
            </p:custDataLst>
          </p:nvPr>
        </p:nvSpPr>
        <p:spPr>
          <a:xfrm>
            <a:off x="3978496" y="5074817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10"/>
          <p:cNvSpPr/>
          <p:nvPr>
            <p:custDataLst>
              <p:tags r:id="rId23"/>
            </p:custDataLst>
          </p:nvPr>
        </p:nvSpPr>
        <p:spPr>
          <a:xfrm>
            <a:off x="4115656" y="5141876"/>
            <a:ext cx="2011680" cy="492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Encoding &amp; Scaling</a:t>
            </a:r>
            <a:endParaRPr lang="en-US" dirty="0"/>
          </a:p>
        </p:txBody>
      </p:sp>
      <p:sp>
        <p:nvSpPr>
          <p:cNvPr id="67" name="Text 11"/>
          <p:cNvSpPr/>
          <p:nvPr>
            <p:custDataLst>
              <p:tags r:id="rId24"/>
            </p:custDataLst>
          </p:nvPr>
        </p:nvSpPr>
        <p:spPr>
          <a:xfrm>
            <a:off x="6218776" y="5074818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Encoding for categorical, Min-Max Scaling for all numeric columns</a:t>
            </a:r>
            <a:endParaRPr lang="en-US" sz="1600" dirty="0"/>
          </a:p>
        </p:txBody>
      </p:sp>
      <p:sp>
        <p:nvSpPr>
          <p:cNvPr id="68" name="Text 8"/>
          <p:cNvSpPr/>
          <p:nvPr>
            <p:custDataLst>
              <p:tags r:id="rId25"/>
            </p:custDataLst>
          </p:nvPr>
        </p:nvSpPr>
        <p:spPr>
          <a:xfrm>
            <a:off x="2988431" y="5821910"/>
            <a:ext cx="724408" cy="64617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200" dirty="0"/>
          </a:p>
        </p:txBody>
      </p:sp>
      <p:sp>
        <p:nvSpPr>
          <p:cNvPr id="69" name="Text 16"/>
          <p:cNvSpPr/>
          <p:nvPr/>
        </p:nvSpPr>
        <p:spPr>
          <a:xfrm>
            <a:off x="6127336" y="5912420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0" name="Shape 9"/>
          <p:cNvSpPr/>
          <p:nvPr>
            <p:custDataLst>
              <p:tags r:id="rId26"/>
            </p:custDataLst>
          </p:nvPr>
        </p:nvSpPr>
        <p:spPr>
          <a:xfrm>
            <a:off x="3978496" y="5821910"/>
            <a:ext cx="8046720" cy="646177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Text 10"/>
          <p:cNvSpPr/>
          <p:nvPr>
            <p:custDataLst>
              <p:tags r:id="rId27"/>
            </p:custDataLst>
          </p:nvPr>
        </p:nvSpPr>
        <p:spPr>
          <a:xfrm>
            <a:off x="4115656" y="5888969"/>
            <a:ext cx="2011680" cy="492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Dimensionality Reduction</a:t>
            </a:r>
            <a:endParaRPr lang="en-US" dirty="0"/>
          </a:p>
        </p:txBody>
      </p:sp>
      <p:sp>
        <p:nvSpPr>
          <p:cNvPr id="72" name="Text 11"/>
          <p:cNvSpPr/>
          <p:nvPr>
            <p:custDataLst>
              <p:tags r:id="rId28"/>
            </p:custDataLst>
          </p:nvPr>
        </p:nvSpPr>
        <p:spPr>
          <a:xfrm>
            <a:off x="6218776" y="5821911"/>
            <a:ext cx="5806440" cy="646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filter, Random Forest importance, </a:t>
            </a:r>
            <a:r>
              <a:rPr lang="en-US" sz="1600" dirty="0" err="1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SelectKBest</a:t>
            </a:r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PCA (90% variance)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27708" r="27708"/>
          <a:stretch>
            <a:fillRect/>
          </a:stretch>
        </p:blipFill>
        <p:spPr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</p:pic>
      <p:cxnSp>
        <p:nvCxnSpPr>
          <p:cNvPr id="43" name="Straight Connector 42"/>
          <p:cNvCxnSpPr/>
          <p:nvPr/>
        </p:nvCxnSpPr>
        <p:spPr>
          <a:xfrm>
            <a:off x="-42418" y="76132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973621" y="4800910"/>
            <a:ext cx="247416" cy="21913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Title 1"/>
          <p:cNvSpPr>
            <a:spLocks noGrp="1"/>
          </p:cNvSpPr>
          <p:nvPr>
            <p:ph type="ctrTitle"/>
          </p:nvPr>
        </p:nvSpPr>
        <p:spPr>
          <a:xfrm>
            <a:off x="4529192" y="258979"/>
            <a:ext cx="7173379" cy="86821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modelling setup</a:t>
            </a:r>
            <a:endParaRPr lang="en-US" sz="4000" dirty="0"/>
          </a:p>
        </p:txBody>
      </p:sp>
      <p:sp>
        <p:nvSpPr>
          <p:cNvPr id="70" name="Shape 7"/>
          <p:cNvSpPr/>
          <p:nvPr/>
        </p:nvSpPr>
        <p:spPr>
          <a:xfrm>
            <a:off x="4543425" y="4349750"/>
            <a:ext cx="7223125" cy="15049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 sz="2000"/>
          </a:p>
        </p:txBody>
      </p:sp>
      <p:sp>
        <p:nvSpPr>
          <p:cNvPr id="72" name="Text 9"/>
          <p:cNvSpPr/>
          <p:nvPr/>
        </p:nvSpPr>
        <p:spPr>
          <a:xfrm>
            <a:off x="4543161" y="4488573"/>
            <a:ext cx="7223432" cy="438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2000" dirty="0"/>
          </a:p>
        </p:txBody>
      </p:sp>
      <p:sp>
        <p:nvSpPr>
          <p:cNvPr id="73" name="Text 10"/>
          <p:cNvSpPr/>
          <p:nvPr/>
        </p:nvSpPr>
        <p:spPr>
          <a:xfrm>
            <a:off x="4543425" y="4966335"/>
            <a:ext cx="68707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2,404 rows (inspection level)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features — no leakage</a:t>
            </a:r>
            <a:endParaRPr lang="en-US" sz="1400" dirty="0">
              <a:solidFill>
                <a:srgbClr val="1A3A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Percent_Met excluded (direct copy of the target label)</a:t>
            </a:r>
            <a:endParaRPr lang="en-US" sz="1400" dirty="0">
              <a:solidFill>
                <a:srgbClr val="1A3A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Healthy = Yes (1) / No (0)</a:t>
            </a:r>
            <a:endParaRPr lang="en-US" sz="1400" dirty="0"/>
          </a:p>
        </p:txBody>
      </p:sp>
      <p:sp>
        <p:nvSpPr>
          <p:cNvPr id="76" name="Text 13"/>
          <p:cNvSpPr/>
          <p:nvPr>
            <p:custDataLst>
              <p:tags r:id="rId2"/>
            </p:custDataLst>
          </p:nvPr>
        </p:nvSpPr>
        <p:spPr>
          <a:xfrm>
            <a:off x="4524059" y="2778005"/>
            <a:ext cx="7228564" cy="438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&amp; Balance</a:t>
            </a:r>
            <a:endParaRPr lang="en-US" dirty="0"/>
          </a:p>
        </p:txBody>
      </p:sp>
      <p:grpSp>
        <p:nvGrpSpPr>
          <p:cNvPr id="85" name="Group 84"/>
          <p:cNvGrpSpPr/>
          <p:nvPr>
            <p:custDataLst>
              <p:tags r:id="rId3"/>
            </p:custDataLst>
          </p:nvPr>
        </p:nvGrpSpPr>
        <p:grpSpPr>
          <a:xfrm>
            <a:off x="4537710" y="3244850"/>
            <a:ext cx="7223125" cy="1216025"/>
            <a:chOff x="4724400" y="4148228"/>
            <a:chExt cx="7223433" cy="936107"/>
          </a:xfrm>
        </p:grpSpPr>
        <p:sp>
          <p:nvSpPr>
            <p:cNvPr id="74" name="Shape 11"/>
            <p:cNvSpPr/>
            <p:nvPr>
              <p:custDataLst>
                <p:tags r:id="rId4"/>
              </p:custDataLst>
            </p:nvPr>
          </p:nvSpPr>
          <p:spPr>
            <a:xfrm>
              <a:off x="4724400" y="4148228"/>
              <a:ext cx="7223433" cy="9361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Text 14"/>
            <p:cNvSpPr/>
            <p:nvPr>
              <p:custDataLst>
                <p:tags r:id="rId5"/>
              </p:custDataLst>
            </p:nvPr>
          </p:nvSpPr>
          <p:spPr>
            <a:xfrm>
              <a:off x="5027417" y="4219757"/>
              <a:ext cx="6675153" cy="686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numCol="2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80/20 stratified train/test split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Train: 1,923 samples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Test:  481 samples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SMOTE on training set only: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  2,450 samples, 50/50 balanced</a:t>
              </a:r>
              <a:endParaRPr lang="en-US" sz="1400" dirty="0"/>
            </a:p>
          </p:txBody>
        </p:sp>
      </p:grpSp>
      <p:sp>
        <p:nvSpPr>
          <p:cNvPr id="80" name="Text 17"/>
          <p:cNvSpPr/>
          <p:nvPr>
            <p:custDataLst>
              <p:tags r:id="rId6"/>
            </p:custDataLst>
          </p:nvPr>
        </p:nvSpPr>
        <p:spPr>
          <a:xfrm>
            <a:off x="4529192" y="925265"/>
            <a:ext cx="7228564" cy="438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Models Trained</a:t>
            </a:r>
            <a:endParaRPr lang="en-US" dirty="0"/>
          </a:p>
        </p:txBody>
      </p:sp>
      <p:grpSp>
        <p:nvGrpSpPr>
          <p:cNvPr id="86" name="Group 85"/>
          <p:cNvGrpSpPr/>
          <p:nvPr>
            <p:custDataLst>
              <p:tags r:id="rId7"/>
            </p:custDataLst>
          </p:nvPr>
        </p:nvGrpSpPr>
        <p:grpSpPr>
          <a:xfrm>
            <a:off x="4529455" y="1363345"/>
            <a:ext cx="7223125" cy="1437005"/>
            <a:chOff x="4529192" y="2040433"/>
            <a:chExt cx="7223431" cy="1294620"/>
          </a:xfrm>
        </p:grpSpPr>
        <p:sp>
          <p:nvSpPr>
            <p:cNvPr id="78" name="Shape 15"/>
            <p:cNvSpPr/>
            <p:nvPr>
              <p:custDataLst>
                <p:tags r:id="rId8"/>
              </p:custDataLst>
            </p:nvPr>
          </p:nvSpPr>
          <p:spPr>
            <a:xfrm>
              <a:off x="4529192" y="2040433"/>
              <a:ext cx="7223431" cy="12946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 numCol="2"/>
            <a:lstStyle/>
            <a:p>
              <a:endParaRPr lang="en-CA"/>
            </a:p>
          </p:txBody>
        </p:sp>
        <p:sp>
          <p:nvSpPr>
            <p:cNvPr id="81" name="Text 18"/>
            <p:cNvSpPr/>
            <p:nvPr>
              <p:custDataLst>
                <p:tags r:id="rId9"/>
              </p:custDataLst>
            </p:nvPr>
          </p:nvSpPr>
          <p:spPr>
            <a:xfrm>
              <a:off x="4831995" y="2169347"/>
              <a:ext cx="6675365" cy="9857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numCol="2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1. Logistic Regression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2. Decision Tree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3. Random Forest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4. Gradient Boosting</a:t>
              </a:r>
              <a:endParaRPr lang="en-US" sz="1200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5. K-Nearest Neighbors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6. Naive Bayes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7. AdaBoost</a:t>
              </a:r>
              <a:endParaRPr lang="en-US" sz="1200" dirty="0"/>
            </a:p>
          </p:txBody>
        </p:sp>
      </p:grpSp>
      <p:sp>
        <p:nvSpPr>
          <p:cNvPr id="83" name="Text 20"/>
          <p:cNvSpPr/>
          <p:nvPr/>
        </p:nvSpPr>
        <p:spPr>
          <a:xfrm>
            <a:off x="4524199" y="5854830"/>
            <a:ext cx="7217869" cy="3462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9" name="Shape 7"/>
          <p:cNvSpPr/>
          <p:nvPr/>
        </p:nvSpPr>
        <p:spPr>
          <a:xfrm>
            <a:off x="4537929" y="6199323"/>
            <a:ext cx="7223431" cy="4752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8" name="TextBox 87"/>
          <p:cNvSpPr txBox="1"/>
          <p:nvPr/>
        </p:nvSpPr>
        <p:spPr>
          <a:xfrm>
            <a:off x="4543596" y="6267418"/>
            <a:ext cx="710738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 |  Precision  |  Recall  |  F1-Score  |  ROC-AUC (primary ranking metric)</a:t>
            </a:r>
            <a:endParaRPr lang="en-CA" sz="1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935" y="240665"/>
            <a:ext cx="9215755" cy="60579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Model performance results</a:t>
            </a:r>
            <a:endParaRPr lang="en-US" sz="3600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9" name="Subtitle 14"/>
          <p:cNvSpPr txBox="1"/>
          <p:nvPr/>
        </p:nvSpPr>
        <p:spPr>
          <a:xfrm>
            <a:off x="3169513" y="6212963"/>
            <a:ext cx="8642732" cy="606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CA" sz="1800" dirty="0"/>
              <a:t>**</a:t>
            </a:r>
            <a:r>
              <a:rPr lang="en-CA" sz="1800" dirty="0"/>
              <a:t>All 7 models </a:t>
            </a:r>
            <a:r>
              <a:rPr lang="en-US" altLang="en-CA" sz="1800" dirty="0"/>
              <a:t>were </a:t>
            </a:r>
            <a:r>
              <a:rPr lang="en-CA" sz="1800" dirty="0"/>
              <a:t>evaluated on the same test set </a:t>
            </a:r>
            <a:endParaRPr lang="en-CA" sz="18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244" y="945700"/>
            <a:ext cx="8514716" cy="51683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B2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211580" y="241300"/>
            <a:ext cx="10097135" cy="729615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Best model:</a:t>
            </a:r>
            <a:r>
              <a:rPr lang="en-US" dirty="0"/>
              <a:t> Gradient boosting​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200" smtClean="0"/>
            </a:fld>
            <a:endParaRPr lang="en-US" sz="1200" dirty="0"/>
          </a:p>
        </p:txBody>
      </p:sp>
      <p:sp>
        <p:nvSpPr>
          <p:cNvPr id="10" name="Shape 21"/>
          <p:cNvSpPr/>
          <p:nvPr/>
        </p:nvSpPr>
        <p:spPr>
          <a:xfrm>
            <a:off x="4852368" y="1170152"/>
            <a:ext cx="55255" cy="783265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11" name="Text 22"/>
          <p:cNvSpPr/>
          <p:nvPr/>
        </p:nvSpPr>
        <p:spPr>
          <a:xfrm>
            <a:off x="5045016" y="1024080"/>
            <a:ext cx="1297727" cy="537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AUC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2" name="Text 23"/>
          <p:cNvSpPr/>
          <p:nvPr/>
        </p:nvSpPr>
        <p:spPr>
          <a:xfrm>
            <a:off x="5045016" y="1467374"/>
            <a:ext cx="5956813" cy="487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probability estimates for distinguishing healthy vs unhealthy colonies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4" name="Shape 24"/>
          <p:cNvSpPr/>
          <p:nvPr/>
        </p:nvSpPr>
        <p:spPr>
          <a:xfrm>
            <a:off x="4852368" y="2115362"/>
            <a:ext cx="55255" cy="987671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15" name="Text 25"/>
          <p:cNvSpPr/>
          <p:nvPr/>
        </p:nvSpPr>
        <p:spPr>
          <a:xfrm>
            <a:off x="5045016" y="2090577"/>
            <a:ext cx="1370298" cy="537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Recall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ext 26"/>
          <p:cNvSpPr/>
          <p:nvPr/>
        </p:nvSpPr>
        <p:spPr>
          <a:xfrm>
            <a:off x="5045015" y="2496704"/>
            <a:ext cx="5956813" cy="435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healthy colony in the test set was correctly identified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Shape 27"/>
          <p:cNvSpPr/>
          <p:nvPr/>
        </p:nvSpPr>
        <p:spPr>
          <a:xfrm>
            <a:off x="4860936" y="3298636"/>
            <a:ext cx="80333" cy="1069312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18" name="Text 28"/>
          <p:cNvSpPr/>
          <p:nvPr/>
        </p:nvSpPr>
        <p:spPr>
          <a:xfrm>
            <a:off x="5070094" y="3298635"/>
            <a:ext cx="1994413" cy="537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Learning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Text 29"/>
          <p:cNvSpPr/>
          <p:nvPr/>
        </p:nvSpPr>
        <p:spPr>
          <a:xfrm>
            <a:off x="5070093" y="3747650"/>
            <a:ext cx="4780753" cy="4406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tree corrects errors of the previous, producing refined predictions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Shape 30"/>
          <p:cNvSpPr/>
          <p:nvPr/>
        </p:nvSpPr>
        <p:spPr>
          <a:xfrm>
            <a:off x="4852368" y="4746509"/>
            <a:ext cx="80333" cy="105432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21" name="Text 31"/>
          <p:cNvSpPr/>
          <p:nvPr/>
        </p:nvSpPr>
        <p:spPr>
          <a:xfrm>
            <a:off x="5070094" y="4725703"/>
            <a:ext cx="2052416" cy="537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Interactions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2" name="Text 32"/>
          <p:cNvSpPr/>
          <p:nvPr/>
        </p:nvSpPr>
        <p:spPr>
          <a:xfrm>
            <a:off x="5070093" y="5170307"/>
            <a:ext cx="4852518" cy="4406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Naturally captures complex relationships between inspection and weather features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211405" y="4367948"/>
            <a:ext cx="1603527" cy="841248"/>
            <a:chOff x="2432137" y="3531970"/>
            <a:chExt cx="1417320" cy="841248"/>
          </a:xfrm>
        </p:grpSpPr>
        <p:sp>
          <p:nvSpPr>
            <p:cNvPr id="24" name="Shape 7"/>
            <p:cNvSpPr/>
            <p:nvPr/>
          </p:nvSpPr>
          <p:spPr>
            <a:xfrm>
              <a:off x="2432137" y="3531970"/>
              <a:ext cx="1417320" cy="841248"/>
            </a:xfrm>
            <a:prstGeom prst="roundRect">
              <a:avLst>
                <a:gd name="adj" fmla="val 8696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Text 8"/>
            <p:cNvSpPr/>
            <p:nvPr/>
          </p:nvSpPr>
          <p:spPr>
            <a:xfrm>
              <a:off x="2432137" y="3605122"/>
              <a:ext cx="1417320" cy="4626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99.79%</a:t>
              </a:r>
              <a:endParaRPr lang="en-US" sz="2800" dirty="0"/>
            </a:p>
          </p:txBody>
        </p:sp>
        <p:sp>
          <p:nvSpPr>
            <p:cNvPr id="26" name="Text 9"/>
            <p:cNvSpPr/>
            <p:nvPr/>
          </p:nvSpPr>
          <p:spPr>
            <a:xfrm>
              <a:off x="2432137" y="3994656"/>
              <a:ext cx="1417320" cy="3364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Accuracy</a:t>
              </a:r>
              <a:endParaRPr lang="en-US" sz="11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00663" y="3068041"/>
            <a:ext cx="1603528" cy="849547"/>
            <a:chOff x="2489200" y="1274876"/>
            <a:chExt cx="1417320" cy="841248"/>
          </a:xfrm>
        </p:grpSpPr>
        <p:sp>
          <p:nvSpPr>
            <p:cNvPr id="27" name="Shape 10"/>
            <p:cNvSpPr/>
            <p:nvPr/>
          </p:nvSpPr>
          <p:spPr>
            <a:xfrm>
              <a:off x="2489200" y="1274876"/>
              <a:ext cx="1417320" cy="841248"/>
            </a:xfrm>
            <a:prstGeom prst="roundRect">
              <a:avLst>
                <a:gd name="adj" fmla="val 8696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 dirty="0"/>
            </a:p>
          </p:txBody>
        </p:sp>
        <p:sp>
          <p:nvSpPr>
            <p:cNvPr id="28" name="Text 11"/>
            <p:cNvSpPr/>
            <p:nvPr/>
          </p:nvSpPr>
          <p:spPr>
            <a:xfrm>
              <a:off x="2489200" y="1348028"/>
              <a:ext cx="1417320" cy="4626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100%</a:t>
              </a:r>
              <a:endParaRPr lang="en-US" sz="2800" dirty="0"/>
            </a:p>
          </p:txBody>
        </p:sp>
        <p:sp>
          <p:nvSpPr>
            <p:cNvPr id="29" name="Text 12"/>
            <p:cNvSpPr/>
            <p:nvPr/>
          </p:nvSpPr>
          <p:spPr>
            <a:xfrm>
              <a:off x="2489200" y="1737562"/>
              <a:ext cx="1417320" cy="3364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Recall</a:t>
              </a:r>
              <a:endParaRPr lang="en-US" sz="11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077986" y="4367948"/>
            <a:ext cx="1603527" cy="841248"/>
            <a:chOff x="2432137" y="4915457"/>
            <a:chExt cx="1417320" cy="841248"/>
          </a:xfrm>
        </p:grpSpPr>
        <p:sp>
          <p:nvSpPr>
            <p:cNvPr id="30" name="Shape 13"/>
            <p:cNvSpPr/>
            <p:nvPr/>
          </p:nvSpPr>
          <p:spPr>
            <a:xfrm>
              <a:off x="2432137" y="4915457"/>
              <a:ext cx="1417320" cy="841248"/>
            </a:xfrm>
            <a:prstGeom prst="roundRect">
              <a:avLst>
                <a:gd name="adj" fmla="val 8696"/>
              </a:avLst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Text 14"/>
            <p:cNvSpPr/>
            <p:nvPr/>
          </p:nvSpPr>
          <p:spPr>
            <a:xfrm>
              <a:off x="2432137" y="4988609"/>
              <a:ext cx="1417320" cy="4626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99.43%</a:t>
              </a:r>
              <a:endParaRPr lang="en-US" sz="2800" dirty="0"/>
            </a:p>
          </p:txBody>
        </p:sp>
        <p:sp>
          <p:nvSpPr>
            <p:cNvPr id="32" name="Text 15"/>
            <p:cNvSpPr/>
            <p:nvPr/>
          </p:nvSpPr>
          <p:spPr>
            <a:xfrm>
              <a:off x="2432137" y="5378143"/>
              <a:ext cx="1417320" cy="3364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Precision</a:t>
              </a:r>
              <a:endParaRPr lang="en-US" sz="11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77986" y="3067266"/>
            <a:ext cx="1603528" cy="849547"/>
            <a:chOff x="2489200" y="2244138"/>
            <a:chExt cx="1417320" cy="841248"/>
          </a:xfrm>
        </p:grpSpPr>
        <p:sp>
          <p:nvSpPr>
            <p:cNvPr id="33" name="Shape 16"/>
            <p:cNvSpPr/>
            <p:nvPr/>
          </p:nvSpPr>
          <p:spPr>
            <a:xfrm>
              <a:off x="2489200" y="2244138"/>
              <a:ext cx="1417320" cy="841248"/>
            </a:xfrm>
            <a:prstGeom prst="roundRect">
              <a:avLst>
                <a:gd name="adj" fmla="val 8696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4" name="Text 17"/>
            <p:cNvSpPr/>
            <p:nvPr/>
          </p:nvSpPr>
          <p:spPr>
            <a:xfrm>
              <a:off x="2489200" y="2317292"/>
              <a:ext cx="1417320" cy="4626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99.72%</a:t>
              </a:r>
              <a:endParaRPr lang="en-US" sz="2800" dirty="0"/>
            </a:p>
          </p:txBody>
        </p:sp>
        <p:sp>
          <p:nvSpPr>
            <p:cNvPr id="35" name="Text 18"/>
            <p:cNvSpPr/>
            <p:nvPr/>
          </p:nvSpPr>
          <p:spPr>
            <a:xfrm>
              <a:off x="2489200" y="2706826"/>
              <a:ext cx="1417320" cy="3364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F1-Score</a:t>
              </a:r>
              <a:endParaRPr lang="en-US" sz="1100" dirty="0"/>
            </a:p>
          </p:txBody>
        </p:sp>
      </p:grpSp>
      <p:sp>
        <p:nvSpPr>
          <p:cNvPr id="40" name="Text 5"/>
          <p:cNvSpPr/>
          <p:nvPr/>
        </p:nvSpPr>
        <p:spPr>
          <a:xfrm>
            <a:off x="1289278" y="1187624"/>
            <a:ext cx="3200400" cy="1124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0.9995</a:t>
            </a:r>
            <a:endParaRPr lang="en-US" sz="6200" dirty="0">
              <a:solidFill>
                <a:schemeClr val="tx2"/>
              </a:solidFill>
            </a:endParaRPr>
          </a:p>
        </p:txBody>
      </p:sp>
      <p:sp>
        <p:nvSpPr>
          <p:cNvPr id="41" name="Text 6"/>
          <p:cNvSpPr/>
          <p:nvPr/>
        </p:nvSpPr>
        <p:spPr>
          <a:xfrm>
            <a:off x="1289278" y="231735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Score</a:t>
            </a:r>
            <a:endParaRPr lang="en-US" sz="20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4167" y="251988"/>
            <a:ext cx="9866540" cy="716305"/>
          </a:xfrm>
        </p:spPr>
        <p:txBody>
          <a:bodyPr>
            <a:noAutofit/>
          </a:bodyPr>
          <a:lstStyle/>
          <a:p>
            <a:r>
              <a:rPr lang="en-CA" sz="3600" dirty="0"/>
              <a:t>Feature importance analysis</a:t>
            </a:r>
            <a:endParaRPr lang="en-CA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1801656" y="877551"/>
          <a:ext cx="896174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title"/>
          </p:nvPr>
        </p:nvSpPr>
        <p:spPr>
          <a:xfrm>
            <a:off x="160019" y="330539"/>
            <a:ext cx="11420264" cy="610954"/>
          </a:xfrm>
        </p:spPr>
        <p:txBody>
          <a:bodyPr>
            <a:normAutofit/>
          </a:bodyPr>
          <a:lstStyle/>
          <a:p>
            <a:pPr algn="ctr"/>
            <a:r>
              <a:rPr lang="en-CA" sz="3200" dirty="0">
                <a:solidFill>
                  <a:schemeClr val="tx1"/>
                </a:solidFill>
              </a:rPr>
              <a:t>Model comparison – ROC AUC Overview</a:t>
            </a:r>
            <a:endParaRPr lang="en-CA" sz="32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  <p:graphicFrame>
        <p:nvGraphicFramePr>
          <p:cNvPr id="83" name="Chart 82"/>
          <p:cNvGraphicFramePr/>
          <p:nvPr/>
        </p:nvGraphicFramePr>
        <p:xfrm>
          <a:off x="745067" y="1030817"/>
          <a:ext cx="951653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337699"/>
            <a:ext cx="9866540" cy="758185"/>
          </a:xfrm>
        </p:spPr>
        <p:txBody>
          <a:bodyPr/>
          <a:lstStyle/>
          <a:p>
            <a:pPr algn="ctr"/>
            <a:r>
              <a:rPr lang="en-CA" dirty="0"/>
              <a:t>Deep Learning Results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6}" type="slidenum">
              <a:rPr lang="en-US" smtClean="0"/>
            </a:fld>
            <a:endParaRPr lang="en-US" dirty="0"/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412971" y="1200000"/>
            <a:ext cx="10334626" cy="70675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3E3E3"/>
                </a:solidFill>
                <a:latin typeface="Google Sans Text"/>
              </a:rPr>
              <a:t>Feedforward Neural Network (FNN) — AUC: 0.9975 | Accuracy: 99.79% | Recall: 100%</a:t>
            </a:r>
            <a:endParaRPr lang="en-US" sz="20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412971" y="2050000"/>
            <a:ext cx="10334626" cy="10147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3E3E3"/>
                </a:solidFill>
                <a:latin typeface="Google Sans Text"/>
              </a:rPr>
              <a:t>Architecture: Dense(64,ReLU) → BatchNorm → Dropout(0.3) → Dense(32,ReLU) → Dense(1,Sigmoid). 4,737 parameters. Matched classical model performance — converged by Epoch 4.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412971" y="3050000"/>
            <a:ext cx="10334626" cy="75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E3E3E3"/>
                </a:solidFill>
                <a:latin typeface="Google Sans Text"/>
              </a:rPr>
              <a:t>LSTM (Time-Series) — AUC: 0.9991 | Accuracy: 97.09% | Recall: 100%</a:t>
            </a:r>
            <a:endParaRPr lang="en-US" sz="22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412971" y="3900000"/>
            <a:ext cx="10334626" cy="101473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3E3E3"/>
                </a:solidFill>
                <a:latin typeface="Google Sans Text"/>
              </a:rPr>
              <a:t>Architecture: LSTM(64) → Dropout(0.2) → LSTM(32) → Dense(16,ReLU) → Dense(1,Sigmoid). 36,257 parameters. Processes last 3 consecutive inspections per hive as temporal sequences to capture colony trends over time.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2971" y="4900000"/>
            <a:ext cx="10334626" cy="10147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3E3E3"/>
                </a:solidFill>
                <a:latin typeface="Google Sans Text"/>
              </a:rPr>
              <a:t>Takeaway: FNN matched classical performance; LSTM’s lower accuracy is due to reduced test set size (413 vs 481 samples). Both confirm the dataset is well-suited to deep learning approaches.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337699"/>
            <a:ext cx="9866540" cy="758185"/>
          </a:xfrm>
        </p:spPr>
        <p:txBody>
          <a:bodyPr/>
          <a:lstStyle/>
          <a:p>
            <a:r>
              <a:rPr lang="en-CA" dirty="0"/>
              <a:t>Key finding 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12971" y="1265309"/>
            <a:ext cx="10334626" cy="70675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3E3E3"/>
                </a:solidFill>
                <a:latin typeface="Google Sans Text"/>
              </a:rPr>
              <a:t>The dataset required integration of six relational tables before any kind of analysis could be performed.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2971" y="2081811"/>
            <a:ext cx="10334626" cy="10147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3E3E3"/>
                </a:solidFill>
                <a:latin typeface="Google Sans Text"/>
              </a:rPr>
              <a:t>Hive inspection attributes especially </a:t>
            </a:r>
            <a:r>
              <a:rPr lang="en-US" sz="2000" b="1" dirty="0">
                <a:solidFill>
                  <a:srgbClr val="E3E3E3"/>
                </a:solidFill>
                <a:latin typeface="Google Sans Text"/>
              </a:rPr>
              <a:t>Queen condition, Brood health, and Stressors</a:t>
            </a:r>
            <a:r>
              <a:rPr lang="en-US" sz="2000" dirty="0">
                <a:solidFill>
                  <a:srgbClr val="E3E3E3"/>
                </a:solidFill>
                <a:latin typeface="Google Sans Text"/>
              </a:rPr>
              <a:t> have emerged as the most important predictors of the colony health.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2971" y="3096046"/>
            <a:ext cx="10334626" cy="70675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3E3E3"/>
                </a:solidFill>
                <a:latin typeface="Google Sans Text"/>
              </a:rPr>
              <a:t>Weather features like Temperature and Humidity have also contributed but with a lower level of importance as compared to inspection attributes.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2971" y="3878997"/>
            <a:ext cx="10334626" cy="70675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3E3E3"/>
                </a:solidFill>
                <a:latin typeface="Google Sans Text"/>
              </a:rPr>
              <a:t>The feature engineered Hive Stress Index and Colony Risk Score provided us with additional predictive signals and symptoms.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2971" y="4661457"/>
            <a:ext cx="10334626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E3E3E3"/>
                </a:solidFill>
                <a:latin typeface="Google Sans Text"/>
              </a:rPr>
              <a:t>All of the seven models have achieved a strong performance metric on this dataset along with the best model determined by ROC-AUC score.</a:t>
            </a:r>
            <a:endParaRPr lang="en-US" sz="2000" dirty="0">
              <a:solidFill>
                <a:srgbClr val="E3E3E3"/>
              </a:solidFill>
              <a:latin typeface="Google Sans T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337699"/>
            <a:ext cx="9866540" cy="758185"/>
          </a:xfrm>
        </p:spPr>
        <p:txBody>
          <a:bodyPr/>
          <a:lstStyle/>
          <a:p>
            <a:pPr algn="ctr"/>
            <a:r>
              <a:rPr lang="en-CA" dirty="0"/>
              <a:t>Challenges &amp; Limitations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F1}" type="slidenum">
              <a:rPr lang="en-US" smtClean="0"/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12971" y="1200000"/>
            <a:ext cx="10334626" cy="75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Row explosion from hourly join — merging inspections with hourly weather expanded 2,404 rows to 35,656. Resolved by daily weather aggregation.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2971" y="2050000"/>
            <a:ext cx="10334626" cy="750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Class imbalance (63.7% unhealthy) — models biased toward majority class without correction. Addressed using SMOTE on training set only.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2971" y="2900000"/>
            <a:ext cx="10334626" cy="75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High dimensionality — 66 features after engineering required correlation filtering, Random Forest importance, SelectKBest, and PCA (retaining 90% variance = 16 components).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2971" y="3750000"/>
            <a:ext cx="10334626" cy="75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Limited dataset size — only 2,404 inspection records constrained LSTM sequence depth and deep learning capacity. Broader real-world deployment would benefit from larger longitudinal datasets.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2971" y="4600000"/>
            <a:ext cx="10334626" cy="750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Geographic limitation — data covers only two US states (NC and UT). Results may not generalize to different climates or beekeeping practices in other regions.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337699"/>
            <a:ext cx="9866540" cy="758185"/>
          </a:xfrm>
        </p:spPr>
        <p:txBody>
          <a:bodyPr/>
          <a:lstStyle/>
          <a:p>
            <a:pPr algn="ctr"/>
            <a:r>
              <a:rPr lang="en-CA" dirty="0"/>
              <a:t>Conclusion &amp; Future Work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F2}" type="slidenum">
              <a:rPr lang="en-US" smtClean="0"/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12971" y="1200000"/>
            <a:ext cx="10334626" cy="75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Summary: Gradient Boosting achieved the best performance (AUC 0.9995, 99.79% accuracy, 100% recall) identifying every healthy colony in the test set without a single miss.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2971" y="2050000"/>
            <a:ext cx="10334626" cy="750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Key insight: Hive inspection attributes (Hive Stress Index 67.96%, Stressors 30.34%) dominate prediction. Weather features contribute less on their own but matter through engineered indices.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2971" y="2900000"/>
            <a:ext cx="10334626" cy="75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Future: Broader hyperparameter tuning (Bayesian optimization), longer LSTM sequence windows (5–10 inspections), and attention mechanisms to pinpoint critical inspection timesteps.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2971" y="3750000"/>
            <a:ext cx="10334626" cy="75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Deployment vision: Package Gradient Boosting into a beekeeper app where inspection inputs generate real-time health predictions with confidence scores for each hive.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2971" y="4600000"/>
            <a:ext cx="10334626" cy="750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E3E3"/>
                </a:solidFill>
                <a:latin typeface="Google Sans Text"/>
              </a:rPr>
              <a:t>Impact: Predictive tools can flag at-risk hives earlier, reducing preventable colony losses, lowering operational costs, and improving pollination capacity for agricultural operations of all sizes.</a:t>
            </a:r>
            <a:endParaRPr lang="en-US" sz="1600" b="1" dirty="0">
              <a:solidFill>
                <a:srgbClr val="E3E3E3"/>
              </a:solidFill>
              <a:latin typeface="Google Sans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337699"/>
            <a:ext cx="9866540" cy="758185"/>
          </a:xfrm>
        </p:spPr>
        <p:txBody>
          <a:bodyPr/>
          <a:lstStyle/>
          <a:p>
            <a:r>
              <a:rPr lang="en-CA" dirty="0"/>
              <a:t>References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F3}" type="slidenum">
              <a:rPr lang="en-US" smtClean="0"/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12971" y="1200000"/>
            <a:ext cx="10334626" cy="520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normAutofit/>
          </a:bodyPr>
          <a:lstStyle/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[1] Redd, B. (2020). Predicting Honeybee Health from Hive and Weather Data. Kaggle.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[2] Han, J., Kamber, M., &amp; Pei, J. (2011). Data Mining: Concepts and Techniques (3rd ed.). Morgan Kaufmann.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[3] Pedregosa, F., et al. (2011). Scikit-learn: Machine Learning in Python. JMLR, 12, 2825–2830.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[4] Chawla, N. V., et al. (2002). SMOTE: Synthetic Minority Over-sampling Technique. JAIR, 16, 321–357.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[5] Friedman, J. H. (2001). Greedy function approximation: A gradient boosting machine. Annals of Statistics, 29(5), 1189–1232.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[6] Breiman, L. (2001). Random Forests. Machine Learning, 45(1), 5–32.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[7] Hochreiter, S., &amp; Schmidhuber, J. (1997). Long Short-Term Memory. Neural Computation, 9(8), 1735–1780.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[8] Genersch, E. (2010). Honey bee pathology: current threats. Applied Microbiology and Biotechnology, 87(1), 87–97.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[9] Fayyad, U., Piatetsky-Shapiro, G., &amp; Smyth, P. (1996). From Data Mining to Knowledge Discovery. AI Magazine, 17(3), 37–54.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  <a:p>
            <a:r>
              <a:rPr lang="en-US" sz="1600" dirty="0">
                <a:solidFill>
                  <a:srgbClr val="E3E3E3"/>
                </a:solidFill>
                <a:latin typeface="Google Sans Text"/>
              </a:rPr>
              <a:t>[10] USDA. (2023). Honey Bee Colonies Report. National Agricultural Statistics Service.</a:t>
            </a:r>
            <a:endParaRPr lang="en-US" sz="1600" dirty="0">
              <a:solidFill>
                <a:srgbClr val="E3E3E3"/>
              </a:solidFill>
              <a:latin typeface="Google Sans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Any questions?</a:t>
            </a:r>
            <a:endParaRPr lang="en-CA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3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4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5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6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7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8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9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0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1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2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3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4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5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6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7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8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19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0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1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2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3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4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5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6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7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8.xml><?xml version="1.0" encoding="utf-8"?>
<p:tagLst xmlns:p="http://schemas.openxmlformats.org/presentationml/2006/main">
  <p:tag name="KSO_WM_DIAGRAM_VIRTUALLY_FRAME" val="{&quot;height&quot;:419.1615748031496,&quot;left&quot;:235.30952755905508,&quot;top&quot;:90.13661417322835,&quot;width&quot;:711.557874015748}"/>
</p:tagLst>
</file>

<file path=ppt/tags/tag29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0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1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2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3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4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5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6.xml><?xml version="1.0" encoding="utf-8"?>
<p:tagLst xmlns:p="http://schemas.openxmlformats.org/presentationml/2006/main">
  <p:tag name="KSO_WM_DIAGRAM_VIRTUALLY_FRAME" val="{&quot;height&quot;:278.39448818897637,&quot;left&quot;:356.2251181102362,&quot;top&quot;:72.85551181102362,&quot;width&quot;:569.8248818897638}"/>
</p:tagLst>
</file>

<file path=ppt/tags/tag37.xml><?xml version="1.0" encoding="utf-8"?>
<p:tagLst xmlns:p="http://schemas.openxmlformats.org/presentationml/2006/main">
  <p:tag name="KSO_WM_DIAGRAM_VIRTUALLY_FRAME" val="{&quot;height&quot;:271.6535433070866,&quot;left&quot;:111.2575590551181,&quot;top&quot;:94.48818897637796,&quot;width&quot;:813.7500787401574}"/>
</p:tagLst>
</file>

<file path=ppt/tags/tag38.xml><?xml version="1.0" encoding="utf-8"?>
<p:tagLst xmlns:p="http://schemas.openxmlformats.org/presentationml/2006/main">
  <p:tag name="KSO_WM_DIAGRAM_VIRTUALLY_FRAME" val="{&quot;height&quot;:271.6535433070866,&quot;left&quot;:111.2575590551181,&quot;top&quot;:94.48818897637796,&quot;width&quot;:813.7500787401574}"/>
</p:tagLst>
</file>

<file path=ppt/tags/tag39.xml><?xml version="1.0" encoding="utf-8"?>
<p:tagLst xmlns:p="http://schemas.openxmlformats.org/presentationml/2006/main">
  <p:tag name="KSO_WM_DIAGRAM_VIRTUALLY_FRAME" val="{&quot;height&quot;:271.6535433070866,&quot;left&quot;:111.2575590551181,&quot;top&quot;:94.48818897637796,&quot;width&quot;:813.7500787401574}"/>
</p:tagLst>
</file>

<file path=ppt/tags/tag40.xml><?xml version="1.0" encoding="utf-8"?>
<p:tagLst xmlns:p="http://schemas.openxmlformats.org/presentationml/2006/main">
  <p:tag name="KSO_WM_DIAGRAM_VIRTUALLY_FRAME" val="{&quot;height&quot;:271.6535433070866,&quot;left&quot;:111.2575590551181,&quot;top&quot;:94.48818897637796,&quot;width&quot;:813.7500787401574}"/>
</p:tagLst>
</file>

<file path=ppt/theme/theme1.xml><?xml version="1.0" encoding="utf-8"?>
<a:theme xmlns:a="http://schemas.openxmlformats.org/drawingml/2006/main" name="Custom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bbe5a3-eed1-4a0a-9ec1-2876f4c4bb9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DDA4E9AE5694E809661913BA1F49E" ma:contentTypeVersion="13" ma:contentTypeDescription="Create a new document." ma:contentTypeScope="" ma:versionID="e64ce2f2e06d480ef66370ecfdf17179">
  <xsd:schema xmlns:xsd="http://www.w3.org/2001/XMLSchema" xmlns:xs="http://www.w3.org/2001/XMLSchema" xmlns:p="http://schemas.microsoft.com/office/2006/metadata/properties" xmlns:ns3="b8bbe5a3-eed1-4a0a-9ec1-2876f4c4bb95" targetNamespace="http://schemas.microsoft.com/office/2006/metadata/properties" ma:root="true" ma:fieldsID="c37dbcf55dc1a981f1c24c013ede3c3a" ns3:_="">
    <xsd:import namespace="b8bbe5a3-eed1-4a0a-9ec1-2876f4c4bb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bbe5a3-eed1-4a0a-9ec1-2876f4c4bb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41.xml><?xml version="1.0" encoding="utf-8"?>
<ds:datastoreItem xmlns:ds="http://schemas.openxmlformats.org/officeDocument/2006/customXml" ds:itemID="{8451406B-581B-4C29-A833-E33D8A6AB075}">
  <ds:schemaRefs/>
</ds:datastoreItem>
</file>

<file path=customXml/itemProps42.xml><?xml version="1.0" encoding="utf-8"?>
<ds:datastoreItem xmlns:ds="http://schemas.openxmlformats.org/officeDocument/2006/customXml" ds:itemID="{0F65614A-92F9-4391-AC3D-F3F5B0704F99}">
  <ds:schemaRefs/>
</ds:datastoreItem>
</file>

<file path=customXml/itemProps43.xml><?xml version="1.0" encoding="utf-8"?>
<ds:datastoreItem xmlns:ds="http://schemas.openxmlformats.org/officeDocument/2006/customXml" ds:itemID="{7A38972D-42DA-4D7A-BACC-2D1863F98E4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7589</Words>
  <Application>WPS Presentation</Application>
  <PresentationFormat>Widescreen</PresentationFormat>
  <Paragraphs>290</Paragraphs>
  <Slides>16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Google Sans Text</vt:lpstr>
      <vt:lpstr>Segoe Print</vt:lpstr>
      <vt:lpstr>Avenir Next LT Pro</vt:lpstr>
      <vt:lpstr>Microsoft YaHei</vt:lpstr>
      <vt:lpstr>Arial Unicode MS</vt:lpstr>
      <vt:lpstr>Custom</vt:lpstr>
      <vt:lpstr>Forecast Honeybee health</vt:lpstr>
      <vt:lpstr>Agenda</vt:lpstr>
      <vt:lpstr>Introduction</vt:lpstr>
      <vt:lpstr>Dataset overview</vt:lpstr>
      <vt:lpstr>Data preprocessing</vt:lpstr>
      <vt:lpstr>Data modelling setup</vt:lpstr>
      <vt:lpstr>Model performance results</vt:lpstr>
      <vt:lpstr>Best model: Gradient boosting​</vt:lpstr>
      <vt:lpstr>Feature importance analysis</vt:lpstr>
      <vt:lpstr>Model comparison – ROC AUC Overview</vt:lpstr>
      <vt:lpstr>Deep Learning Results</vt:lpstr>
      <vt:lpstr>Key finding </vt:lpstr>
      <vt:lpstr>Challenges &amp; Limitations</vt:lpstr>
      <vt:lpstr>Conclusion &amp; Future Work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Kenji Kimura Lopez</dc:creator>
  <cp:lastModifiedBy>ah640</cp:lastModifiedBy>
  <cp:revision>41</cp:revision>
  <dcterms:created xsi:type="dcterms:W3CDTF">2026-04-03T01:53:00Z</dcterms:created>
  <dcterms:modified xsi:type="dcterms:W3CDTF">2026-04-07T18:57:06Z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0x0101004ABDDA4E9AE5694E809661913BA1F49E</vt:lpwstr>
  </property>
  <property fmtid="{D5CDD505-2E9C-101B-9397-08002B2CF9AE}" pid="3" name="ICV">
    <vt:lpwstr>5EF371F468C14605ACB327F96F475735_12</vt:lpwstr>
  </property>
  <property fmtid="{D5CDD505-2E9C-101B-9397-08002B2CF9AE}" pid="4" name="KSOProductBuildVer">
    <vt:lpwstr>1033-12.2.0.23196</vt:lpwstr>
  </property>
</Properties>
</file>